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Șablon" id="{A400C06E-735C-BC23-DC41-0A137D6A8A0E}">
          <p14:sldIdLst>
            <p14:sldId id="256"/>
            <p14:sldId id="257"/>
            <p14:sldId id="25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523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4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12051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B2A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457200"/>
            <a:ext cx="804672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900" kern="0" spc="200" dirty="0">
                <a:solidFill>
                  <a:srgbClr val="C8702A"/>
                </a:solidFill>
              </a:defRPr>
            </a:lvl1pPr>
          </a:lstStyle>
          <a:p>
            <a:pPr marL="0" indent="0">
              <a:buNone/>
            </a:pPr>
            <a:endParaRPr lang="en-US" sz="9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1463040"/>
            <a:ext cx="804672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dirty="0">
                <a:solidFill>
                  <a:srgbClr val="FFFFFF"/>
                </a:solidFill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48640" y="2971800"/>
            <a:ext cx="804672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600" dirty="0">
                <a:solidFill>
                  <a:srgbClr val="E9E3D6"/>
                </a:solidFill>
              </a:defRPr>
            </a:lvl1pPr>
          </a:lstStyle>
          <a:p>
            <a:pPr marL="0" indent="0">
              <a:buNone/>
            </a:pPr>
            <a:endParaRPr lang="en-US" sz="1600" dirty="0"/>
          </a:p>
        </p:txBody>
      </p:sp>
      <p:sp>
        <p:nvSpPr>
          <p:cNvPr id="5" name="Text 0"/>
          <p:cNvSpPr/>
          <p:nvPr/>
        </p:nvSpPr>
        <p:spPr>
          <a:xfrm>
            <a:off x="548640" y="44805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6A3"/>
                </a:solidFill>
              </a:rPr>
              <a:t>Săptămâna 1 · GeoSense Lab, ETTI–UNSTPB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804672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600" dirty="0">
                <a:solidFill>
                  <a:srgbClr val="1B2A41"/>
                </a:solidFill>
              </a:defRPr>
            </a:lvl1pPr>
          </a:lstStyle>
          <a:p>
            <a:pPr marL="0" indent="0" algn="l">
              <a:buNone/>
            </a:pPr>
            <a:endParaRPr lang="en-US" sz="26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960120"/>
            <a:ext cx="804672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250" dirty="0">
                <a:solidFill>
                  <a:srgbClr val="3A4451"/>
                </a:solidFill>
              </a:defRPr>
            </a:lvl1pPr>
          </a:lstStyle>
          <a:p>
            <a:pPr marL="0" indent="0">
              <a:buNone/>
            </a:pPr>
            <a:endParaRPr lang="en-US" sz="12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C">
    <p:bg>
      <p:bgPr>
        <a:solidFill>
          <a:srgbClr val="1B2A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804672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600" dirty="0">
                <a:solidFill>
                  <a:srgbClr val="FFFFFF"/>
                </a:solidFill>
              </a:defRPr>
            </a:lvl1pPr>
          </a:lstStyle>
          <a:p>
            <a:pPr marL="0" indent="0" algn="l">
              <a:buNone/>
            </a:pPr>
            <a:endParaRPr lang="en-US" sz="26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96012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500" dirty="0">
                <a:solidFill>
                  <a:srgbClr val="C8702A"/>
                </a:solidFill>
              </a:defRPr>
            </a:lvl1pPr>
          </a:lstStyle>
          <a:p>
            <a:pPr marL="0" indent="0">
              <a:buNone/>
            </a:pPr>
            <a:endParaRPr lang="en-US" sz="15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IulianGabrielSora/MEDE_project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o-RO" sz="900" kern="0" spc="200" noProof="0" dirty="0">
                <a:solidFill>
                  <a:srgbClr val="C8702A"/>
                </a:solidFill>
              </a:rPr>
              <a:t>MEDE · CP1 · ALINIERE · SĂPTĂMÂNA 4</a:t>
            </a:r>
            <a:endParaRPr lang="ro-RO" sz="900" noProof="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o-RO" sz="2400" noProof="0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Sora Iulian-Gabriel · U20 · Localitatea / UAT (UAT × an)</a:t>
            </a:r>
            <a:endParaRPr lang="ro-RO" sz="2400" noProof="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ro-RO" sz="1100" b="1" noProof="0" dirty="0">
                <a:solidFill>
                  <a:srgbClr val="1B2A41"/>
                </a:solidFill>
              </a:rPr>
              <a:t>Întrebarea mea</a:t>
            </a:r>
            <a:endParaRPr lang="ro-RO" sz="1100" noProof="0" dirty="0"/>
          </a:p>
          <a:p>
            <a:pPr marL="0" indent="0">
              <a:spcAft>
                <a:spcPts val="500"/>
              </a:spcAft>
              <a:buNone/>
            </a:pPr>
            <a:r>
              <a:rPr lang="ro-RO" sz="1050" noProof="0" dirty="0">
                <a:solidFill>
                  <a:srgbClr val="6B7684"/>
                </a:solidFill>
              </a:rPr>
              <a:t>În ce măsură ritmul expansiunii suprafeței construite detectat satelitar reflectă dinamica demografică și a fondului locativ oficial, și unde apar decuplări/anomalii majore de dezvoltare teritorială?</a:t>
            </a:r>
            <a:endParaRPr lang="ro-RO" sz="1100" noProof="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351314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ro-RO" sz="1100" b="1" noProof="0" dirty="0">
                <a:solidFill>
                  <a:srgbClr val="1B2A41"/>
                </a:solidFill>
              </a:rPr>
              <a:t>Unitatea și sursele</a:t>
            </a:r>
            <a:endParaRPr lang="ro-RO" sz="1100" noProof="0" dirty="0"/>
          </a:p>
          <a:p>
            <a:pPr marL="0" indent="0">
              <a:spcAft>
                <a:spcPts val="500"/>
              </a:spcAft>
              <a:buNone/>
            </a:pPr>
            <a:r>
              <a:rPr lang="ro-RO" sz="1050" noProof="0" dirty="0">
                <a:solidFill>
                  <a:srgbClr val="6B7684"/>
                </a:solidFill>
              </a:rPr>
              <a:t>Unitate de analiză: UAT (Localitate) × an (intervale de 5 ani: 2000–2020).</a:t>
            </a:r>
          </a:p>
          <a:p>
            <a:pPr marL="0" indent="0">
              <a:spcAft>
                <a:spcPts val="500"/>
              </a:spcAft>
              <a:buNone/>
            </a:pPr>
            <a:r>
              <a:rPr lang="ro-RO" sz="1050" noProof="0" dirty="0">
                <a:solidFill>
                  <a:srgbClr val="6B7684"/>
                </a:solidFill>
              </a:rPr>
              <a:t>Sursa 1: GHS-BUILT-LAUSTAT R2023A - GHS built-up surface statistics in European LAU, multitemporal (1975-2020)</a:t>
            </a:r>
          </a:p>
          <a:p>
            <a:pPr marL="0" indent="0">
              <a:spcAft>
                <a:spcPts val="500"/>
              </a:spcAft>
              <a:buNone/>
            </a:pPr>
            <a:r>
              <a:rPr lang="ro-RO" sz="1050" noProof="0" dirty="0">
                <a:solidFill>
                  <a:srgbClr val="6B7684"/>
                </a:solidFill>
              </a:rPr>
              <a:t>Sursa 2: Statistică – INS Tempo (Populație după domiciliu/rezidență POP107D, locuințe terminate Municipiul Bucuresti).</a:t>
            </a:r>
          </a:p>
        </p:txBody>
      </p:sp>
      <p:sp>
        <p:nvSpPr>
          <p:cNvPr id="6" name="Text 4"/>
          <p:cNvSpPr txBox="1"/>
          <p:nvPr/>
        </p:nvSpPr>
        <p:spPr>
          <a:xfrm>
            <a:off x="548640" y="374904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ro-RO" sz="1100" b="1" noProof="0" dirty="0">
                <a:solidFill>
                  <a:srgbClr val="1B2A41"/>
                </a:solidFill>
              </a:rPr>
              <a:t>Cui îi folosește răspunsul</a:t>
            </a:r>
            <a:endParaRPr lang="ro-RO" sz="1100" noProof="0" dirty="0"/>
          </a:p>
          <a:p>
            <a:pPr marL="0" indent="0">
              <a:spcAft>
                <a:spcPts val="500"/>
              </a:spcAft>
              <a:buNone/>
            </a:pPr>
            <a:r>
              <a:rPr lang="ro-RO" sz="1050" noProof="0" dirty="0">
                <a:solidFill>
                  <a:srgbClr val="6B7684"/>
                </a:solidFill>
              </a:rPr>
              <a:t>Urbaniștilor și planificatorilor din administrația publică pentru a prioritiza investițiile de utilități în zonele unde expansiunea rezidențială reală depășește statisticile oficiale de domiciliu.</a:t>
            </a:r>
            <a:endParaRPr lang="ro-RO" sz="1100" noProof="0" dirty="0"/>
          </a:p>
        </p:txBody>
      </p:sp>
      <p:sp>
        <p:nvSpPr>
          <p:cNvPr id="7" name="Shape 5"/>
          <p:cNvSpPr/>
          <p:nvPr/>
        </p:nvSpPr>
        <p:spPr>
          <a:xfrm>
            <a:off x="4663440" y="1554480"/>
            <a:ext cx="3931920" cy="2194560"/>
          </a:xfrm>
          <a:prstGeom prst="rect">
            <a:avLst/>
          </a:prstGeom>
          <a:solidFill>
            <a:srgbClr val="E9E3D6"/>
          </a:solidFill>
          <a:ln w="12700">
            <a:solidFill>
              <a:srgbClr val="E9E3D6"/>
            </a:solidFill>
            <a:prstDash val="solid"/>
          </a:ln>
        </p:spPr>
        <p:txBody>
          <a:bodyPr/>
          <a:lstStyle/>
          <a:p>
            <a:endParaRPr lang="ro-RO" noProof="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691640"/>
            <a:ext cx="3566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ro-RO" sz="1100" b="1" noProof="0" dirty="0">
                <a:solidFill>
                  <a:srgbClr val="1B2A41"/>
                </a:solidFill>
              </a:rPr>
              <a:t>Unde am ajuns</a:t>
            </a:r>
            <a:endParaRPr lang="ro-RO" sz="1100" noProof="0" dirty="0"/>
          </a:p>
          <a:p>
            <a:pPr marL="0" indent="0">
              <a:spcAft>
                <a:spcPts val="500"/>
              </a:spcAft>
              <a:buNone/>
            </a:pPr>
            <a:r>
              <a:rPr lang="ro-RO" sz="1050" noProof="0" dirty="0">
                <a:solidFill>
                  <a:srgbClr val="6B7684"/>
                </a:solidFill>
              </a:rPr>
              <a:t>Făcut de la CP0: Am implementat scriptul de reconciliere semantică între codurile Eurostat GISCO (GISCO_ID) și nomenclatorul național SIRUTA; am descărcat și agregat seriile anuale INS Tempo (POP107D, LOC101B) pe borna temporală de 5 ani specifică GHSL (2000, 2005, 2010, 2015, 2020).</a:t>
            </a:r>
          </a:p>
          <a:p>
            <a:pPr marL="0" indent="0">
              <a:spcAft>
                <a:spcPts val="500"/>
              </a:spcAft>
              <a:buNone/>
            </a:pPr>
            <a:r>
              <a:rPr lang="ro-RO" sz="1050" noProof="0" dirty="0">
                <a:solidFill>
                  <a:srgbClr val="6B7684"/>
                </a:solidFill>
              </a:rPr>
              <a:t>Decizie metodologică: Am optat pentru analizarea municipiului București agregat pe cele 6 sectoare individuale (ca unități administrative autonome LAU2), asigurând coerența cu densitățile construite specifice fiecărei zone periferice.</a:t>
            </a:r>
          </a:p>
        </p:txBody>
      </p:sp>
      <p:sp>
        <p:nvSpPr>
          <p:cNvPr id="9" name="Text 7"/>
          <p:cNvSpPr txBox="1"/>
          <p:nvPr/>
        </p:nvSpPr>
        <p:spPr>
          <a:xfrm>
            <a:off x="548640" y="46177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o-RO" sz="900" noProof="0" dirty="0">
                <a:solidFill>
                  <a:srgbClr val="6B7684"/>
                </a:solidFill>
              </a:rPr>
              <a:t>Slide 1 din 3 · Fișier Moodle: CP1_SORA_Iulian-Gabriel.pptx · Prezentare: 3 minute</a:t>
            </a:r>
            <a:endParaRPr lang="ro-RO" sz="900" noProof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o-RO" sz="900" kern="0" spc="200" noProof="0" dirty="0">
                <a:solidFill>
                  <a:srgbClr val="C8702A"/>
                </a:solidFill>
              </a:rPr>
              <a:t>DOVADA ETAPEI</a:t>
            </a:r>
            <a:endParaRPr lang="ro-RO" sz="900" noProof="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o-RO" sz="1800" noProof="0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Pipeline-ul de aliniere obține o retenție de 99.97% a UAT-urilor din România, sincronizând suprafața construită GHSL cu demografia INS pe 5 epoci (2000–2020)	</a:t>
            </a:r>
            <a:endParaRPr lang="ro-RO" sz="1800" noProof="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120640" cy="2286000"/>
          </a:xfrm>
          <a:prstGeom prst="rect">
            <a:avLst/>
          </a:prstGeom>
          <a:solidFill>
            <a:srgbClr val="E9E3D6"/>
          </a:solidFill>
          <a:ln w="12700">
            <a:solidFill>
              <a:srgbClr val="E9E3D6"/>
            </a:solidFill>
            <a:prstDash val="solid"/>
          </a:ln>
        </p:spPr>
        <p:txBody>
          <a:bodyPr/>
          <a:lstStyle/>
          <a:p>
            <a:endParaRPr lang="ro-RO" noProof="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645920"/>
            <a:ext cx="4754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ro-RO" sz="1200" noProof="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97764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o-RO" sz="850" noProof="0" dirty="0">
                <a:solidFill>
                  <a:srgbClr val="6B7684"/>
                </a:solidFill>
              </a:rPr>
              <a:t>Raport de acoperire: 99.97% (3.180 UAT-uri din 3.181 păstrate; 15.900 rânduri valide).</a:t>
            </a:r>
          </a:p>
          <a:p>
            <a:pPr marL="0" indent="0">
              <a:buNone/>
            </a:pPr>
            <a:r>
              <a:rPr lang="ro-RO" sz="850" noProof="0" dirty="0">
                <a:solidFill>
                  <a:srgbClr val="6B7684"/>
                </a:solidFill>
              </a:rPr>
              <a:t>Valori lipsă: 0% în GHSL; &lt; 0.05% în INS (rezolvate prin imputare liniară temporală).</a:t>
            </a:r>
          </a:p>
        </p:txBody>
      </p:sp>
      <p:sp>
        <p:nvSpPr>
          <p:cNvPr id="7" name="Text 5"/>
          <p:cNvSpPr txBox="1"/>
          <p:nvPr/>
        </p:nvSpPr>
        <p:spPr>
          <a:xfrm>
            <a:off x="5943599" y="1645920"/>
            <a:ext cx="3148149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ro-RO" sz="1100" b="1" noProof="0" dirty="0">
                <a:solidFill>
                  <a:srgbClr val="1B2A41"/>
                </a:solidFill>
              </a:rPr>
              <a:t>Cum se verifică</a:t>
            </a:r>
            <a:endParaRPr lang="ro-RO" sz="1100" noProof="0" dirty="0"/>
          </a:p>
          <a:p>
            <a:pPr marL="0" indent="0">
              <a:spcAft>
                <a:spcPts val="400"/>
              </a:spcAft>
              <a:buNone/>
            </a:pPr>
            <a:r>
              <a:rPr lang="ro-RO" sz="1000" noProof="0" dirty="0">
                <a:solidFill>
                  <a:srgbClr val="6B7684"/>
                </a:solidFill>
              </a:rPr>
              <a:t>Repo / notebook: </a:t>
            </a:r>
            <a:r>
              <a:rPr lang="ro-RO" sz="1000" noProof="0" dirty="0">
                <a:solidFill>
                  <a:srgbClr val="6B7684"/>
                </a:solidFill>
                <a:hlinkClick r:id="rId3"/>
              </a:rPr>
              <a:t>https://github.com/IulianGabrielSora/MEDE_project</a:t>
            </a:r>
            <a:endParaRPr lang="ro-RO" sz="1100" noProof="0" dirty="0"/>
          </a:p>
          <a:p>
            <a:pPr marL="0" indent="0">
              <a:spcAft>
                <a:spcPts val="400"/>
              </a:spcAft>
              <a:buNone/>
            </a:pPr>
            <a:r>
              <a:rPr lang="ro-RO" sz="1000" noProof="0" dirty="0">
                <a:solidFill>
                  <a:srgbClr val="6B7684"/>
                </a:solidFill>
              </a:rPr>
              <a:t>Surse: GHS-BUILT-LAUSTAT R2023A ×</a:t>
            </a:r>
            <a:r>
              <a:rPr lang="en-US" sz="1000" noProof="0" dirty="0">
                <a:solidFill>
                  <a:srgbClr val="6B7684"/>
                </a:solidFill>
              </a:rPr>
              <a:t> </a:t>
            </a:r>
            <a:r>
              <a:rPr lang="ro-RO" sz="1000" noProof="0" dirty="0">
                <a:solidFill>
                  <a:srgbClr val="6B7684"/>
                </a:solidFill>
              </a:rPr>
              <a:t>INS Tempo (2000–2020)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ro-RO" sz="1000" noProof="0" dirty="0">
                <a:solidFill>
                  <a:srgbClr val="6B7684"/>
                </a:solidFill>
              </a:rPr>
              <a:t>Unitate × pas de timp: 15.900 observații × 6 variabile brute (3.180 UAT-uri × 5 epoci: 2000, 2005, 2010, 2015, 2020)</a:t>
            </a:r>
            <a:endParaRPr lang="en-US" sz="1000" noProof="0" dirty="0">
              <a:solidFill>
                <a:srgbClr val="6B7684"/>
              </a:solidFill>
            </a:endParaRPr>
          </a:p>
          <a:p>
            <a:pPr marL="0" indent="0">
              <a:spcAft>
                <a:spcPts val="400"/>
              </a:spcAft>
              <a:buNone/>
            </a:pPr>
            <a:r>
              <a:rPr lang="ro-RO" sz="1000" noProof="0" dirty="0">
                <a:solidFill>
                  <a:srgbClr val="6B7684"/>
                </a:solidFill>
              </a:rPr>
              <a:t>Split: Spațial (pe cele 8 Regiuni de Dezvoltare / 41 de județe) și Temporal (LOYO – 2020 lăsat ca test)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ro-RO" sz="1000" noProof="0" dirty="0">
                <a:solidFill>
                  <a:srgbClr val="6B7684"/>
                </a:solidFill>
              </a:rPr>
              <a:t>Seed-uri / rulări: 5 rulări (seed-urile 42, 123, 456, 789, 2024) pentru verificarea stabilității split-urilor</a:t>
            </a:r>
            <a:endParaRPr lang="en-US" sz="1000" noProof="0" dirty="0">
              <a:solidFill>
                <a:srgbClr val="6B7684"/>
              </a:solidFill>
            </a:endParaRPr>
          </a:p>
          <a:p>
            <a:pPr marL="0" indent="0">
              <a:spcAft>
                <a:spcPts val="400"/>
              </a:spcAft>
              <a:buNone/>
            </a:pPr>
            <a:r>
              <a:rPr lang="ro-RO" sz="1000" noProof="0" dirty="0">
                <a:solidFill>
                  <a:srgbClr val="6B7684"/>
                </a:solidFill>
              </a:rPr>
              <a:t>Baseline „o singură sursă”: PCA pe trăsături doar din satelit (GHSL)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ro-RO" sz="1000" noProof="0" dirty="0">
                <a:solidFill>
                  <a:srgbClr val="6B7684"/>
                </a:solidFill>
              </a:rPr>
              <a:t>Ce înseamnă rezultatul: Pipeline-ul garantează alinierea temporală și semantică fără pierderi de date (99.97% retenție), permițând extragerea trăsăturilor multivariate pentru baseline-ul PCA la CP2.</a:t>
            </a:r>
          </a:p>
          <a:p>
            <a:pPr marL="0" indent="0">
              <a:spcAft>
                <a:spcPts val="400"/>
              </a:spcAft>
              <a:buNone/>
            </a:pPr>
            <a:endParaRPr lang="ro-RO" sz="1100" noProof="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6177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o-RO" sz="900" noProof="0" dirty="0">
                <a:solidFill>
                  <a:srgbClr val="6B7684"/>
                </a:solidFill>
              </a:rPr>
              <a:t>Slide 2 din 3 · O singură figură sau tabel, cu axe, unități și baseline-ul vizibil</a:t>
            </a:r>
            <a:endParaRPr lang="ro-RO" sz="900" noProof="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FD33DBA-C9C1-B328-4F54-7F12C95881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9378" y="1645920"/>
            <a:ext cx="3292845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o-RO" sz="900" kern="0" spc="200" noProof="0" dirty="0">
                <a:solidFill>
                  <a:srgbClr val="C8702A"/>
                </a:solidFill>
              </a:rPr>
              <a:t>BLOCAJE ȘI URMĂTOARELE DOUĂ SĂPTĂMÂNI</a:t>
            </a:r>
            <a:endParaRPr lang="ro-RO" sz="900" noProof="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o-RO" sz="2400" noProof="0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Blocaje și următorii pași la CP2</a:t>
            </a:r>
            <a:endParaRPr lang="ro-RO" sz="2400" noProof="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3840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ro-RO" sz="1100" b="1" noProof="0" dirty="0">
                <a:solidFill>
                  <a:srgbClr val="1B2A41"/>
                </a:solidFill>
              </a:rPr>
              <a:t>Blocaje</a:t>
            </a:r>
            <a:endParaRPr lang="ro-RO" sz="1100" noProof="0" dirty="0"/>
          </a:p>
          <a:p>
            <a:pPr marL="228600" indent="-228600">
              <a:spcAft>
                <a:spcPts val="600"/>
              </a:spcAft>
              <a:buAutoNum type="arabicPeriod"/>
            </a:pPr>
            <a:r>
              <a:rPr lang="ro-RO" sz="1050" noProof="0" dirty="0">
                <a:solidFill>
                  <a:srgbClr val="6B7684"/>
                </a:solidFill>
              </a:rPr>
              <a:t>Rezolvat: Discrepanța dintre codurile GISCO și SIRUTA a fost soluționată printr-un tabel de mapping construit cu pachetul geopandas folosind poligoanele oficiale ANCPI/Eurostat.</a:t>
            </a:r>
          </a:p>
          <a:p>
            <a:pPr marL="228600" indent="-228600">
              <a:spcAft>
                <a:spcPts val="600"/>
              </a:spcAft>
              <a:buAutoNum type="arabicPeriod"/>
            </a:pPr>
            <a:r>
              <a:rPr lang="ro-RO" sz="1050" noProof="0" dirty="0">
                <a:solidFill>
                  <a:srgbClr val="6B7684"/>
                </a:solidFill>
              </a:rPr>
              <a:t>Risc pentru CP2: Disproporția de scară dintre UAT-urile rurale mici (populație &lt; 1.500) și marile centre urbane (populație &gt; 200.000) poate distorsiona varianța în PCA dacă scalarea se face pe valori brute.</a:t>
            </a:r>
          </a:p>
        </p:txBody>
      </p:sp>
      <p:sp>
        <p:nvSpPr>
          <p:cNvPr id="5" name="Shape 3"/>
          <p:cNvSpPr/>
          <p:nvPr/>
        </p:nvSpPr>
        <p:spPr>
          <a:xfrm>
            <a:off x="4663440" y="1632856"/>
            <a:ext cx="3931920" cy="2984864"/>
          </a:xfrm>
          <a:prstGeom prst="rect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  <p:txBody>
          <a:bodyPr/>
          <a:lstStyle/>
          <a:p>
            <a:endParaRPr lang="ro-RO" noProof="0" dirty="0"/>
          </a:p>
        </p:txBody>
      </p:sp>
      <p:sp>
        <p:nvSpPr>
          <p:cNvPr id="6" name="Text 4"/>
          <p:cNvSpPr txBox="1"/>
          <p:nvPr/>
        </p:nvSpPr>
        <p:spPr>
          <a:xfrm>
            <a:off x="4846320" y="1691639"/>
            <a:ext cx="3566160" cy="27203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ro-RO" sz="1100" b="1" noProof="0" dirty="0">
                <a:solidFill>
                  <a:srgbClr val="C8702A"/>
                </a:solidFill>
              </a:rPr>
              <a:t>Planul pe 2 săptămâni</a:t>
            </a:r>
            <a:endParaRPr lang="ro-RO" sz="1100" noProof="0" dirty="0"/>
          </a:p>
          <a:p>
            <a:pPr marL="0" indent="0">
              <a:spcAft>
                <a:spcPts val="500"/>
              </a:spcAft>
              <a:buNone/>
            </a:pPr>
            <a:r>
              <a:rPr lang="ro-RO" sz="1050" noProof="0" dirty="0">
                <a:solidFill>
                  <a:srgbClr val="C9D1DC"/>
                </a:solidFill>
              </a:rPr>
              <a:t>Săptămâna [5]: Extragerea trăsăturilor derivate per UAT: dinamica </a:t>
            </a:r>
            <a:r>
              <a:rPr lang="el-GR" sz="1050" b="1" noProof="0" dirty="0">
                <a:solidFill>
                  <a:srgbClr val="C9D1DC"/>
                </a:solidFill>
              </a:rPr>
              <a:t>Δ</a:t>
            </a:r>
            <a:r>
              <a:rPr lang="ro-RO" sz="1050" b="1" noProof="0" dirty="0">
                <a:solidFill>
                  <a:srgbClr val="C9D1DC"/>
                </a:solidFill>
              </a:rPr>
              <a:t>Built-up</a:t>
            </a:r>
            <a:r>
              <a:rPr lang="ro-RO" sz="1050" noProof="0" dirty="0">
                <a:solidFill>
                  <a:srgbClr val="C9D1DC"/>
                </a:solidFill>
              </a:rPr>
              <a:t>, ritmul anual de expansiune, densitatea locativă per locuitor, log-transformare și aplicare StandardScaler (fără data leakage pe split-ul spațial).</a:t>
            </a:r>
          </a:p>
          <a:p>
            <a:pPr marL="0" indent="0">
              <a:spcAft>
                <a:spcPts val="500"/>
              </a:spcAft>
              <a:buNone/>
            </a:pPr>
            <a:r>
              <a:rPr lang="ro-RO" sz="1050" noProof="0" dirty="0">
                <a:solidFill>
                  <a:srgbClr val="C9D1DC"/>
                </a:solidFill>
              </a:rPr>
              <a:t>Săptămâna [6]: Rularea baseline-ului PCA, analiza scree plot, interpretarea coeficienților (loadings) pe primele componente principale.</a:t>
            </a:r>
          </a:p>
          <a:p>
            <a:pPr marL="0" indent="0">
              <a:spcAft>
                <a:spcPts val="500"/>
              </a:spcAft>
              <a:buNone/>
            </a:pPr>
            <a:r>
              <a:rPr lang="ro-RO" sz="1050" noProof="0" dirty="0">
                <a:solidFill>
                  <a:srgbClr val="C9D1DC"/>
                </a:solidFill>
              </a:rPr>
              <a:t>La CP2 arăt: Screen plot + tabelul cu varianța explicată și loadings-urile PCA pe split-ul stabilit.</a:t>
            </a:r>
          </a:p>
          <a:p>
            <a:pPr marL="0" indent="0">
              <a:spcAft>
                <a:spcPts val="500"/>
              </a:spcAft>
              <a:buNone/>
            </a:pPr>
            <a:r>
              <a:rPr lang="ro-RO" sz="1050" noProof="0" dirty="0">
                <a:solidFill>
                  <a:srgbClr val="C9D1DC"/>
                </a:solidFill>
              </a:rPr>
              <a:t>Comparația obligatorie pe care o pregătesc: Sursă unică (Satelit GHSL singur) vs. Fuziune multimodală (Satelit GHSL + Demografie și locuințe INS)</a:t>
            </a:r>
          </a:p>
          <a:p>
            <a:pPr marL="0" indent="0">
              <a:buNone/>
            </a:pPr>
            <a:r>
              <a:rPr lang="ro-RO" sz="1050" noProof="0" dirty="0">
                <a:solidFill>
                  <a:srgbClr val="C9D1DC"/>
                </a:solidFill>
              </a:rPr>
              <a:t>Secțiunea de articol pe care o scriu: Data (Data Card, protocol de aliniere și retenție) și Related Work (tabelul SOA cu cele 10 articole)</a:t>
            </a:r>
          </a:p>
          <a:p>
            <a:pPr marL="0" indent="0">
              <a:buNone/>
            </a:pPr>
            <a:endParaRPr lang="ro-RO" sz="1100" noProof="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6177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o-RO" sz="900" noProof="0" dirty="0">
                <a:solidFill>
                  <a:srgbClr val="6B7684"/>
                </a:solidFill>
              </a:rPr>
              <a:t>Slide 3 din 3 · Întrebarea pentru profesor / grup, dacă există: Pentru trăsătura „Suprafață construită per locuitor”, este recomandată aplicarea unei transformări logaritmice înainte de PCA pentru a stabiliza asimetria accentuată din UAT-urile turistice/periferice cu populație stabilă mică?</a:t>
            </a:r>
            <a:endParaRPr lang="ro-RO" sz="900" noProof="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EDE GeoSense">
  <a:themeElements>
    <a:clrScheme name="MEDE GeoSense">
      <a:dk1>
        <a:srgbClr val="1B2A41"/>
      </a:dk1>
      <a:lt1>
        <a:srgbClr val="F4F0E8"/>
      </a:lt1>
      <a:dk2>
        <a:srgbClr val="4A5563"/>
      </a:dk2>
      <a:lt2>
        <a:srgbClr val="E9E3D6"/>
      </a:lt2>
      <a:accent1>
        <a:srgbClr val="C8702A"/>
      </a:accent1>
      <a:accent2>
        <a:srgbClr val="1B2A41"/>
      </a:accent2>
      <a:accent3>
        <a:srgbClr val="8A96A3"/>
      </a:accent3>
      <a:accent4>
        <a:srgbClr val="D9D2C3"/>
      </a:accent4>
      <a:accent5>
        <a:srgbClr val="F4F0E8"/>
      </a:accent5>
      <a:accent6>
        <a:srgbClr val="E9E3D6"/>
      </a:accent6>
      <a:hlink>
        <a:srgbClr val="C8702A"/>
      </a:hlink>
      <a:folHlink>
        <a:srgbClr val="8A96A3"/>
      </a:folHlink>
    </a:clrScheme>
    <a:fontScheme name="MEDE GeoSens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746</Words>
  <Application>Microsoft Office PowerPoint</Application>
  <PresentationFormat>On-screen Show (16:9)</PresentationFormat>
  <Paragraphs>42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Cambria</vt:lpstr>
      <vt:lpstr>MEDE GeoSense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MEDE — Șablon checkpoint</dc:title>
  <dc:subject>PptxGenJS Presentation</dc:subject>
  <dc:creator>GeoSense Lab, ETTI–UNSTPB</dc:creator>
  <cp:lastModifiedBy>Iulian Gabriel</cp:lastModifiedBy>
  <cp:revision>5</cp:revision>
  <dcterms:created xsi:type="dcterms:W3CDTF">2026-10-07T14:41:20Z</dcterms:created>
  <dcterms:modified xsi:type="dcterms:W3CDTF">2026-10-19T12:28:26Z</dcterms:modified>
</cp:coreProperties>
</file>