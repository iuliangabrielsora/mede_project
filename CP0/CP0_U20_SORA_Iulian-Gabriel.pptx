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Șablon" id="{A400C06E-735C-BC23-DC41-0A137D6A8A0E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62" autoAdjust="0"/>
  </p:normalViewPr>
  <p:slideViewPr>
    <p:cSldViewPr snapToGrid="0" snapToObjects="1">
      <p:cViewPr varScale="1">
        <p:scale>
          <a:sx n="138" d="100"/>
          <a:sy n="138" d="100"/>
        </p:scale>
        <p:origin x="78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120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900" kern="0" spc="200" dirty="0">
                <a:solidFill>
                  <a:srgbClr val="C8702A"/>
                </a:solidFill>
              </a:defRPr>
            </a:lvl1pPr>
          </a:lstStyle>
          <a:p>
            <a:pPr marL="0" indent="0">
              <a:buNone/>
            </a:pPr>
            <a:endParaRPr lang="en-US" sz="9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46304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297180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rgbClr val="E9E3D6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54864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6A3"/>
                </a:solidFill>
              </a:rPr>
              <a:t>Săptămâna 1 · GeoSense Lab, ETTI–UNSTPB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dirty="0">
                <a:solidFill>
                  <a:srgbClr val="1B2A41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6012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50" dirty="0">
                <a:solidFill>
                  <a:srgbClr val="3A4451"/>
                </a:solidFill>
              </a:defRPr>
            </a:lvl1pPr>
          </a:lstStyle>
          <a:p>
            <a:pPr marL="0" indent="0">
              <a:buNone/>
            </a:pPr>
            <a:endParaRPr lang="en-US" sz="12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C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6012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500" dirty="0">
                <a:solidFill>
                  <a:srgbClr val="C8702A"/>
                </a:solidFill>
              </a:defRPr>
            </a:lvl1pPr>
          </a:lstStyle>
          <a:p>
            <a:pPr marL="0" indent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ulianGabrielSora/MEDE_projec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8702A"/>
                </a:solidFill>
              </a:rPr>
              <a:t>MEDE · CP[0] · [FIȘA DE CONCEPT] · SĂPTĂMÂNA [03]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24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Sora Iulian-Gabriel · U20 · </a:t>
            </a:r>
            <a:r>
              <a:rPr lang="ro-RO" sz="2400" b="0" i="0" dirty="0">
                <a:solidFill>
                  <a:srgbClr val="1D2125"/>
                </a:solidFill>
                <a:effectLst/>
                <a:latin typeface="system-ui"/>
              </a:rPr>
              <a:t>Localitatea / UAT (UAT × an). Fenomenul: dezvoltarea teritorială și expansiunea construită.</a:t>
            </a:r>
            <a:endParaRPr lang="ro-RO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B2A41"/>
                </a:solidFill>
              </a:rPr>
              <a:t>Întrebarea mea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ro-RO" sz="1050" dirty="0"/>
              <a:t>În ce măsură ritmul expansiunii suprafeței construite detectat satelitar reflectă dinamica demografică și a fondului locativ oficial, și unde apar decuplări/anomalii majore de dezvoltare teritorială?</a:t>
            </a:r>
            <a:endParaRPr lang="ro-RO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64971"/>
            <a:ext cx="3840480" cy="2768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ro-RO" sz="1100" b="1" dirty="0"/>
              <a:t>Unitatea și sursele</a:t>
            </a:r>
            <a:endParaRPr lang="ro-RO" sz="1100" dirty="0"/>
          </a:p>
          <a:p>
            <a:pPr marL="0" indent="0">
              <a:spcAft>
                <a:spcPts val="500"/>
              </a:spcAft>
              <a:buNone/>
            </a:pPr>
            <a:r>
              <a:rPr lang="ro-RO" sz="1050" dirty="0"/>
              <a:t>Unitate de analiză: UAT (Localitate) × an (intervale de 5 ani: 2000–2020).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ro-RO" sz="1050" dirty="0"/>
              <a:t>Sursa 1: </a:t>
            </a:r>
            <a:r>
              <a:rPr lang="ro-RO" sz="1050" b="0" i="0" dirty="0">
                <a:effectLst/>
              </a:rPr>
              <a:t>GHS-BUILT-LAUSTAT R2023A - GHS built-up surface statistics in European LAU, multitemporal (1975-2020)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ro-RO" sz="1050" dirty="0"/>
              <a:t>Sursa 2: Statistică – INS Tempo (Populație după domiciliu/rezidență POP107D, locuințe terminate Municipiul Bucuresti).</a:t>
            </a:r>
            <a:endParaRPr lang="ro-RO" sz="1050" b="0" i="0" dirty="0">
              <a:effectLst/>
            </a:endParaRPr>
          </a:p>
          <a:p>
            <a:pPr marL="0" indent="0">
              <a:spcAft>
                <a:spcPts val="500"/>
              </a:spcAft>
              <a:buNone/>
            </a:pPr>
            <a:endParaRPr lang="ro-RO" sz="1050" b="0" i="0" dirty="0">
              <a:effectLst/>
            </a:endParaRPr>
          </a:p>
          <a:p>
            <a:pPr marL="0" indent="0">
              <a:spcAft>
                <a:spcPts val="500"/>
              </a:spcAft>
              <a:buNone/>
            </a:pPr>
            <a:endParaRPr lang="ro-RO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90284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ro-RO" sz="1100" b="1" noProof="1">
                <a:solidFill>
                  <a:srgbClr val="1B2A41"/>
                </a:solidFill>
              </a:rPr>
              <a:t>Cui îi folosește răspunsul</a:t>
            </a:r>
            <a:endParaRPr lang="ro-RO" sz="1100" noProof="1"/>
          </a:p>
          <a:p>
            <a:pPr marL="0" indent="0">
              <a:spcAft>
                <a:spcPts val="500"/>
              </a:spcAft>
              <a:buNone/>
            </a:pPr>
            <a:r>
              <a:rPr lang="ro-RO" sz="1050" noProof="1"/>
              <a:t>Urbaniștilor și planificatorilor din administrația publică pentru a prioritiza investițiile de utilități în zonele unde expansiunea rezidențială reală depășește statisticile oficiale de domiciliu.</a:t>
            </a:r>
            <a:endParaRPr lang="ro-RO" sz="1100" noProof="1"/>
          </a:p>
        </p:txBody>
      </p:sp>
      <p:sp>
        <p:nvSpPr>
          <p:cNvPr id="7" name="Shape 5"/>
          <p:cNvSpPr/>
          <p:nvPr/>
        </p:nvSpPr>
        <p:spPr>
          <a:xfrm>
            <a:off x="4663440" y="1554480"/>
            <a:ext cx="3931920" cy="2194560"/>
          </a:xfrm>
          <a:prstGeom prst="rect">
            <a:avLst/>
          </a:prstGeom>
          <a:solidFill>
            <a:srgbClr val="E9E3D6"/>
          </a:solidFill>
          <a:ln w="12700">
            <a:solidFill>
              <a:srgbClr val="E9E3D6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8" name="Text 6"/>
          <p:cNvSpPr txBox="1"/>
          <p:nvPr/>
        </p:nvSpPr>
        <p:spPr>
          <a:xfrm>
            <a:off x="4846320" y="169164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B2A41"/>
                </a:solidFill>
              </a:rPr>
              <a:t>Unde am ajuns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ro-RO" sz="1050" i="1" dirty="0"/>
              <a:t>Etapa curentă:</a:t>
            </a:r>
            <a:r>
              <a:rPr lang="ro-RO" sz="1050" dirty="0"/>
              <a:t> Concept și identificare surse (CP0).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ro-RO" sz="1050" i="1" dirty="0"/>
              <a:t>Făcut de la ultimul checkpoint:</a:t>
            </a:r>
            <a:r>
              <a:rPr lang="ro-RO" sz="1050" dirty="0"/>
              <a:t> Am descărcat și inspectat eșantionul GHSL pentru România (cu coduri GISCO</a:t>
            </a:r>
            <a:r>
              <a:rPr lang="en-US" sz="1050" dirty="0"/>
              <a:t>_ID </a:t>
            </a:r>
            <a:r>
              <a:rPr lang="it-IT" sz="1050" dirty="0"/>
              <a:t>și serii 1975–2020); am verificat accesul la tabelele INS Tempo pe UAT-uri.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ro-RO" sz="1050" i="1" dirty="0"/>
              <a:t>Ce am schimbat față de plan:</a:t>
            </a:r>
            <a:r>
              <a:rPr lang="ro-RO" sz="1050" dirty="0"/>
              <a:t> Am restrâns analiza la anii comuni 2000–2020 la pas de 5 ani din cauza disponibilității datelor demografice detaliate.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Slide 1 din 3 · Fișier Moodle: CP0</a:t>
            </a:r>
            <a:r>
              <a:rPr lang="en-US" sz="900"/>
              <a:t>_SORA_</a:t>
            </a:r>
            <a:r>
              <a:rPr lang="en-US" sz="900" dirty="0"/>
              <a:t>Iulian-Gabriel.pptx · Prezentare: 3 minute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/>
              <a:t>DOVADA ETAPEI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dirty="0"/>
              <a:t>Seriile satelitare GHSL (1975–2020) și datele INS confirmă disponibilitatea atributelor pe unități GISCO/UAT din România</a:t>
            </a:r>
            <a:endParaRPr lang="ro-RO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120640" cy="2286000"/>
          </a:xfrm>
          <a:prstGeom prst="rect">
            <a:avLst/>
          </a:prstGeom>
          <a:solidFill>
            <a:srgbClr val="E9E3D6"/>
          </a:solidFill>
          <a:ln w="12700">
            <a:solidFill>
              <a:srgbClr val="E9E3D6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5" name="Text 3"/>
          <p:cNvSpPr txBox="1"/>
          <p:nvPr/>
        </p:nvSpPr>
        <p:spPr>
          <a:xfrm>
            <a:off x="731520" y="164592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o-RO" sz="900" b="1" dirty="0"/>
              <a:t>Ren et al. (2022)</a:t>
            </a:r>
            <a:r>
              <a:rPr lang="ro-RO" sz="900" dirty="0"/>
              <a:t> – </a:t>
            </a:r>
            <a:r>
              <a:rPr lang="ro-RO" sz="900" i="1" dirty="0"/>
              <a:t>„Mapping High-Resolution Global Impervious Surface Area: Status and Trends”</a:t>
            </a:r>
            <a:r>
              <a:rPr lang="ro-RO" sz="900" dirty="0"/>
              <a:t> (IEEE JSTARS).</a:t>
            </a:r>
            <a:endParaRPr lang="en-US" sz="900" dirty="0"/>
          </a:p>
          <a:p>
            <a:r>
              <a:rPr lang="ro-RO" sz="900" b="1" dirty="0"/>
              <a:t>Kucsicsa et al. (2019)</a:t>
            </a:r>
            <a:r>
              <a:rPr lang="ro-RO" sz="900" dirty="0"/>
              <a:t> – </a:t>
            </a:r>
            <a:r>
              <a:rPr lang="ro-RO" sz="900" i="1" dirty="0"/>
              <a:t>„Future land use/cover changes in Romania: regional simulations based on CLUE-S model and CORINE...”</a:t>
            </a:r>
            <a:r>
              <a:rPr lang="ro-RO" sz="900" dirty="0"/>
              <a:t> (Springer)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1645920"/>
            <a:ext cx="265176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/>
              <a:t>Cum se verifică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/>
              <a:t>Repo / notebook: </a:t>
            </a:r>
            <a:r>
              <a:rPr lang="en-US" sz="10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https://github.com/IulianGabrielSora/MEDE_project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ro-RO" sz="1000" dirty="0"/>
              <a:t>Surse</a:t>
            </a:r>
            <a:r>
              <a:rPr lang="en-US" sz="1000" dirty="0"/>
              <a:t>: </a:t>
            </a:r>
            <a:r>
              <a:rPr lang="pl-PL" sz="1000" dirty="0"/>
              <a:t>JRC GHSL P2023A (1975–2020, 5 ani)</a:t>
            </a:r>
            <a:r>
              <a:rPr lang="en-US" sz="1000" dirty="0"/>
              <a:t> × NS Tempo (1990–2020, </a:t>
            </a:r>
            <a:r>
              <a:rPr lang="ro-RO" sz="1000" dirty="0"/>
              <a:t>anual</a:t>
            </a:r>
            <a:r>
              <a:rPr lang="en-US" sz="1000" dirty="0"/>
              <a:t>) 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/>
              <a:t>Unitate × pas de timp: UAT × 5 ani (1990, 1995, 2000, 2005, 2010, 2015, 2020) 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/>
              <a:t>Split: </a:t>
            </a:r>
            <a:r>
              <a:rPr lang="ro-RO" sz="1000" dirty="0"/>
              <a:t>Spațial (pe regiuni de dezvoltare / județe) și </a:t>
            </a:r>
            <a:r>
              <a:rPr lang="en-US" sz="1000" dirty="0"/>
              <a:t>Temporal 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ro-RO" sz="1000" dirty="0"/>
              <a:t>Seed-uri</a:t>
            </a:r>
            <a:r>
              <a:rPr lang="en-US" sz="1000" dirty="0"/>
              <a:t> / rulări: </a:t>
            </a:r>
            <a:r>
              <a:rPr lang="it-IT" sz="1000" dirty="0"/>
              <a:t>5 rulări planificate pentru stabilitate 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ro-RO" sz="1000" dirty="0"/>
              <a:t>Baseline „o singură sursă”: PCA pe trăsături doar din satelit (GHSL) 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ro-RO" sz="1000" dirty="0"/>
              <a:t>Ce înseamnă rezultatul: Accesul la ambele seturi este validat; datele acoperă atât evoluția fizică, cât și cea socio-demografică. </a:t>
            </a:r>
            <a:endParaRPr lang="ro-RO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Slide 2 din 3 · O singură figură sau tabel, cu axe, unități și baseline-ul vizibil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344403-B13E-1B2D-154C-84707ECD8F4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7542" y="1645920"/>
            <a:ext cx="4682836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8702A"/>
                </a:solidFill>
              </a:rPr>
              <a:t>BLOCAJE ȘI URMĂTOARELE DOUĂ SĂPTĂMÂNI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Blocaje și următorii pași la CP[n+1]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ro-RO" sz="1100" b="1" dirty="0"/>
              <a:t>Blocaje</a:t>
            </a:r>
            <a:endParaRPr lang="ro-RO" sz="1100" dirty="0"/>
          </a:p>
          <a:p>
            <a:pPr marL="228600" indent="-228600">
              <a:spcAft>
                <a:spcPts val="600"/>
              </a:spcAft>
              <a:buAutoNum type="arabicPeriod"/>
            </a:pPr>
            <a:r>
              <a:rPr lang="ro-RO" sz="1050" dirty="0"/>
              <a:t>Codurile GISCO_ID din setul GHSL nu corespund direct cu codurile SIRUTA din statisticile </a:t>
            </a:r>
            <a:r>
              <a:rPr lang="ro-RO" sz="1050" dirty="0">
                <a:sym typeface="Wingdings" panose="05000000000000000000" pitchFamily="2" charset="2"/>
              </a:rPr>
              <a:t> </a:t>
            </a:r>
            <a:r>
              <a:rPr lang="ro-RO" sz="1050" dirty="0"/>
              <a:t>Ce am încercat: Am descărcat tabelul de corespondență LAU2–SIRUTA de la Eurostat/ANCPI </a:t>
            </a:r>
            <a:r>
              <a:rPr lang="ro-RO" sz="1050" dirty="0">
                <a:sym typeface="Wingdings" panose="05000000000000000000" pitchFamily="2" charset="2"/>
              </a:rPr>
              <a:t> </a:t>
            </a:r>
            <a:r>
              <a:rPr lang="ro-RO" sz="1050" dirty="0"/>
              <a:t>Ce am nevoie: Validarea cheii comune de join la nivel de UAT/sector.</a:t>
            </a:r>
          </a:p>
          <a:p>
            <a:pPr marL="228600" indent="-228600">
              <a:spcAft>
                <a:spcPts val="600"/>
              </a:spcAft>
              <a:buAutoNum type="arabicPeriod"/>
            </a:pPr>
            <a:r>
              <a:rPr lang="ro-RO" sz="1050" dirty="0"/>
              <a:t>GHSL oferă valori la 5 ani, INS oferă valori anuale </a:t>
            </a:r>
            <a:r>
              <a:rPr lang="ro-RO" sz="1050" dirty="0">
                <a:sym typeface="Wingdings" panose="05000000000000000000" pitchFamily="2" charset="2"/>
              </a:rPr>
              <a:t> </a:t>
            </a:r>
            <a:r>
              <a:rPr lang="ro-RO" sz="1050" dirty="0"/>
              <a:t>Soluție: Sub-eșantionarea datelor INS exclusiv pe anii de bornă GHSL (2000, 2005, 2010, 2015, 2020). </a:t>
            </a:r>
            <a:endParaRPr lang="ro-RO" sz="1100" dirty="0"/>
          </a:p>
        </p:txBody>
      </p:sp>
      <p:sp>
        <p:nvSpPr>
          <p:cNvPr id="5" name="Shape 3"/>
          <p:cNvSpPr/>
          <p:nvPr/>
        </p:nvSpPr>
        <p:spPr>
          <a:xfrm>
            <a:off x="4663440" y="1554480"/>
            <a:ext cx="3931920" cy="246888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6" name="Text 4"/>
          <p:cNvSpPr txBox="1"/>
          <p:nvPr/>
        </p:nvSpPr>
        <p:spPr>
          <a:xfrm>
            <a:off x="4846320" y="169164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ro-RO" sz="1100" b="1" dirty="0">
                <a:solidFill>
                  <a:srgbClr val="C8702A"/>
                </a:solidFill>
              </a:rPr>
              <a:t>Planul pe 2 săptămâni</a:t>
            </a:r>
            <a:endParaRPr lang="ro-RO" sz="1100" dirty="0"/>
          </a:p>
          <a:p>
            <a:pPr marL="0" indent="0">
              <a:spcAft>
                <a:spcPts val="500"/>
              </a:spcAft>
              <a:buNone/>
            </a:pPr>
            <a:r>
              <a:rPr lang="ro-RO" sz="1050" dirty="0">
                <a:solidFill>
                  <a:srgbClr val="C9D1DC"/>
                </a:solidFill>
              </a:rPr>
              <a:t>Săptămâna [3]: Construirea scriptului de îmbinare spațială și semantică (GISCO_ID </a:t>
            </a:r>
            <a:r>
              <a:rPr lang="ro-RO" sz="1050" dirty="0">
                <a:solidFill>
                  <a:srgbClr val="C9D1DC"/>
                </a:solidFill>
                <a:sym typeface="Wingdings" panose="05000000000000000000" pitchFamily="2" charset="2"/>
              </a:rPr>
              <a:t> </a:t>
            </a:r>
            <a:r>
              <a:rPr lang="ro-RO" sz="1050" dirty="0">
                <a:solidFill>
                  <a:srgbClr val="C9D1DC"/>
                </a:solidFill>
              </a:rPr>
              <a:t>SIRUTA); tratarea valorilor lipsă.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ro-RO" sz="1050" dirty="0">
                <a:solidFill>
                  <a:srgbClr val="C9D1DC"/>
                </a:solidFill>
              </a:rPr>
              <a:t>Săptămâna [4]: Redactarea Data Card-ului complet pentru fiecare sursă, calcularea raportului de acoperire (% UAT-uri complete) și finalizarea tabelului State-of-the-Art (10 articole).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ro-RO" sz="1050" dirty="0">
                <a:solidFill>
                  <a:srgbClr val="C9D1DC"/>
                </a:solidFill>
              </a:rPr>
              <a:t>La CP[</a:t>
            </a:r>
            <a:r>
              <a:rPr lang="en-US" sz="1050" dirty="0">
                <a:solidFill>
                  <a:srgbClr val="C9D1DC"/>
                </a:solidFill>
              </a:rPr>
              <a:t>1</a:t>
            </a:r>
            <a:r>
              <a:rPr lang="ro-RO" sz="1050" dirty="0">
                <a:solidFill>
                  <a:srgbClr val="C9D1DC"/>
                </a:solidFill>
              </a:rPr>
              <a:t>] arăt: Tabelul complet aliniat X (o linie = o localitate/UAT × an) + raportul de acoperire. 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ro-RO" sz="1050" dirty="0">
                <a:solidFill>
                  <a:srgbClr val="C9D1DC"/>
                </a:solidFill>
              </a:rPr>
              <a:t>Comparația obligatorie pe care o pregătesc: Structura descoperită din Satelit singur vs. Satelit + Statistică INS.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ro-RO" sz="1050" dirty="0">
                <a:solidFill>
                  <a:srgbClr val="C9D1DC"/>
                </a:solidFill>
              </a:rPr>
              <a:t>Secțiunea de articol pe care o scriu: Data și Related Work (conform calendarului).</a:t>
            </a:r>
            <a:endParaRPr lang="ro-RO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900" dirty="0"/>
              <a:t>Slide 3 din 3 · Întrebarea pentru profesor / grup, dacă există: </a:t>
            </a:r>
            <a:r>
              <a:rPr lang="ro-RO" sz="900" i="1" dirty="0"/>
              <a:t>Pentru municipiul București este preferabil să tratăm cele 6 sectoare ca UAT-uri distincte sau agregat la nivelul întregului oraș, având în vedere că punctele din GHSL sunt la nivel de adresă/stradă?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DE GeoSense">
  <a:themeElements>
    <a:clrScheme name="MEDE GeoSense">
      <a:dk1>
        <a:srgbClr val="1B2A41"/>
      </a:dk1>
      <a:lt1>
        <a:srgbClr val="F4F0E8"/>
      </a:lt1>
      <a:dk2>
        <a:srgbClr val="4A5563"/>
      </a:dk2>
      <a:lt2>
        <a:srgbClr val="E9E3D6"/>
      </a:lt2>
      <a:accent1>
        <a:srgbClr val="C8702A"/>
      </a:accent1>
      <a:accent2>
        <a:srgbClr val="1B2A41"/>
      </a:accent2>
      <a:accent3>
        <a:srgbClr val="8A96A3"/>
      </a:accent3>
      <a:accent4>
        <a:srgbClr val="D9D2C3"/>
      </a:accent4>
      <a:accent5>
        <a:srgbClr val="F4F0E8"/>
      </a:accent5>
      <a:accent6>
        <a:srgbClr val="E9E3D6"/>
      </a:accent6>
      <a:hlink>
        <a:srgbClr val="C8702A"/>
      </a:hlink>
      <a:folHlink>
        <a:srgbClr val="8A96A3"/>
      </a:folHlink>
    </a:clrScheme>
    <a:fontScheme name="MEDE GeoSens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732</Words>
  <Application>Microsoft Office PowerPoint</Application>
  <PresentationFormat>On-screen Show (16:9)</PresentationFormat>
  <Paragraphs>43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Cambria</vt:lpstr>
      <vt:lpstr>system-ui</vt:lpstr>
      <vt:lpstr>Wingdings</vt:lpstr>
      <vt:lpstr>MEDE GeoSense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MEDE — Șablon checkpoint</dc:title>
  <dc:subject>PptxGenJS Presentation</dc:subject>
  <dc:creator>GeoSense Lab, ETTI–UNSTPB</dc:creator>
  <cp:lastModifiedBy>Iulian Gabriel</cp:lastModifiedBy>
  <cp:revision>10</cp:revision>
  <dcterms:created xsi:type="dcterms:W3CDTF">2026-10-07T14:41:20Z</dcterms:created>
  <dcterms:modified xsi:type="dcterms:W3CDTF">2026-10-12T18:54:12Z</dcterms:modified>
</cp:coreProperties>
</file>