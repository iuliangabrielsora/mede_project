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Șablon" id="{A400C06E-735C-BC23-DC41-0A137D6A8A0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0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2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E9E3D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3"/>
                </a:solidFill>
              </a:rPr>
              <a:t>Săptămâna 1 · GeoSense Lab, ETTI–UNSTPB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1B2A4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50" dirty="0">
                <a:solidFill>
                  <a:srgbClr val="3A4451"/>
                </a:solidFill>
              </a:defRPr>
            </a:lvl1pPr>
          </a:lstStyle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hyperlink" Target="https://github.com/IulianGabrielSora/MEDE_projec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kern="0" spc="200" noProof="0" dirty="0">
                <a:solidFill>
                  <a:srgbClr val="C8702A"/>
                </a:solidFill>
              </a:rPr>
              <a:t>MEDE · CP2 · TRĂSĂTURI &amp; PCA BASELINE · SĂPTĂMÂNA 6</a:t>
            </a:r>
            <a:endParaRPr lang="ro-RO" sz="9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400" noProof="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Sora Iulian-Gabriel · U20 · Localitatea / UAT (UAT × an)</a:t>
            </a:r>
            <a:endParaRPr lang="ro-RO" sz="24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1B2A41"/>
                </a:solidFill>
              </a:rPr>
              <a:t>Întrebarea mea</a:t>
            </a:r>
            <a:endParaRPr lang="ro-RO" sz="110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În ce măsură ritmul expansiunii suprafeței construite detectat satelitar reflectă dinamica demografică și a fondului locativ oficial, și unde apar decuplări/anomalii majore de dezvoltare teritorială?</a:t>
            </a:r>
            <a:endParaRPr lang="ro-RO" sz="11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5131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1B2A41"/>
                </a:solidFill>
              </a:rPr>
              <a:t>Unitatea și sursele</a:t>
            </a:r>
            <a:endParaRPr lang="ro-RO" sz="110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Unitate de analiză: UAT (Localitate) × an (intervale de 5 ani: 2000–2020).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Sursa 1: GHS-BUILT-LAUSTAT R2023A - GHS built-up surface statistics in European LAU, multitemporal (1975-2020)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Sursa 2: Statistică – INS Tempo (Populație după domiciliu/rezidență POP107D, locuințe terminate Municipiul Bucuresti).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1B2A41"/>
                </a:solidFill>
              </a:rPr>
              <a:t>Cui îi folosește răspunsul</a:t>
            </a:r>
            <a:endParaRPr lang="ro-RO" sz="110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Urbaniștilor și planificatorilor din administrația publică pentru a prioritiza investițiile de utilități în zonele unde expansiunea rezidențială reală depășește statisticile oficiale de domiciliu.</a:t>
            </a:r>
            <a:endParaRPr lang="ro-RO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31920" cy="301752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1B2A41"/>
                </a:solidFill>
              </a:rPr>
              <a:t>Unde am ajuns</a:t>
            </a:r>
            <a:endParaRPr lang="ro-RO" sz="1100" noProof="0" dirty="0"/>
          </a:p>
          <a:p>
            <a:pPr>
              <a:spcAft>
                <a:spcPts val="500"/>
              </a:spcAft>
            </a:pPr>
            <a:r>
              <a:rPr lang="ro-RO" sz="1050" noProof="0" dirty="0">
                <a:solidFill>
                  <a:srgbClr val="6B7684"/>
                </a:solidFill>
              </a:rPr>
              <a:t>Făcut de la CP1: Am extras d = 8 trăsături derivate (multimodale, de ritm și densitate) în matricea aliniată X (n = </a:t>
            </a:r>
            <a:r>
              <a:rPr lang="ro-RO" sz="1050" dirty="0">
                <a:solidFill>
                  <a:srgbClr val="6B7684"/>
                </a:solidFill>
              </a:rPr>
              <a:t>15.900 observații × </a:t>
            </a:r>
            <a:r>
              <a:rPr lang="ro-RO" sz="1050" noProof="0" dirty="0">
                <a:solidFill>
                  <a:srgbClr val="6B7684"/>
                </a:solidFill>
              </a:rPr>
              <a:t>8 trăsături, reprezentând 3.180 </a:t>
            </a:r>
            <a:r>
              <a:rPr lang="ro-RO" sz="1050" dirty="0">
                <a:solidFill>
                  <a:srgbClr val="6B7684"/>
                </a:solidFill>
              </a:rPr>
              <a:t>UAT-uri × </a:t>
            </a:r>
            <a:r>
              <a:rPr lang="ro-RO" sz="1050" noProof="0">
                <a:solidFill>
                  <a:srgbClr val="6B7684"/>
                </a:solidFill>
              </a:rPr>
              <a:t>5 </a:t>
            </a:r>
            <a:r>
              <a:rPr lang="ro-RO" sz="1050" noProof="0" dirty="0">
                <a:solidFill>
                  <a:srgbClr val="6B7684"/>
                </a:solidFill>
              </a:rPr>
              <a:t>epoci).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Preprocesare &amp; Scalare: Am aplicat transformarea </a:t>
            </a:r>
            <a:r>
              <a:rPr lang="ro-RO" sz="1050" i="1" noProof="0" dirty="0">
                <a:solidFill>
                  <a:srgbClr val="6B7684"/>
                </a:solidFill>
              </a:rPr>
              <a:t>log(1+x) </a:t>
            </a:r>
            <a:r>
              <a:rPr lang="ro-RO" sz="1050" noProof="0" dirty="0">
                <a:solidFill>
                  <a:srgbClr val="6B7684"/>
                </a:solidFill>
              </a:rPr>
              <a:t>pe variabilele asimetrice de scara/densitate (</a:t>
            </a:r>
            <a:r>
              <a:rPr lang="ro-RO" sz="1050" i="1" noProof="0" dirty="0">
                <a:solidFill>
                  <a:srgbClr val="6B7684"/>
                </a:solidFill>
              </a:rPr>
              <a:t>BuiltUp_per_Capita</a:t>
            </a:r>
            <a:r>
              <a:rPr lang="ro-RO" sz="1050" noProof="0" dirty="0">
                <a:solidFill>
                  <a:srgbClr val="6B7684"/>
                </a:solidFill>
              </a:rPr>
              <a:t>) și </a:t>
            </a:r>
            <a:r>
              <a:rPr lang="ro-RO" sz="1050" i="1" noProof="0" dirty="0">
                <a:solidFill>
                  <a:srgbClr val="6B7684"/>
                </a:solidFill>
              </a:rPr>
              <a:t>StandardScaler</a:t>
            </a:r>
            <a:r>
              <a:rPr lang="ro-RO" sz="1050" noProof="0" dirty="0">
                <a:solidFill>
                  <a:srgbClr val="6B7684"/>
                </a:solidFill>
              </a:rPr>
              <a:t> fitted strict pe train set (prevenind data leakage pe split-ul spațial/temporal).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Baseline PCA: Reducerea la primele 2 componente principale (PC1 – Amploare Urbană, PC2 – Ritm &amp; Decuplare) păstrează 63.1% din varianță (PC1–PC4 explică 88.7%), oferind o proiecție liniară stabilă pentru etapa de clustering.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6B7684"/>
                </a:solidFill>
              </a:rPr>
              <a:t>Decizie metodologică: Am menținut tratarea Municipiului București defalcat pe cele 6 sectoare administrative individuale (LAU2), asigurând captarea corectă a gradientului de densitate periferică.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noProof="0" dirty="0">
                <a:solidFill>
                  <a:srgbClr val="6B7684"/>
                </a:solidFill>
              </a:rPr>
              <a:t>Slide 1 din 3 · Fișier Moodle: CP2_SORA_Iulian-Gabriel.pptx · Prezentare: 3 minute</a:t>
            </a:r>
            <a:endParaRPr lang="ro-RO" sz="9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kern="0" spc="200" noProof="0" dirty="0">
                <a:solidFill>
                  <a:srgbClr val="C8702A"/>
                </a:solidFill>
              </a:rPr>
              <a:t>DOVADA ETAPEI</a:t>
            </a:r>
            <a:endParaRPr lang="ro-RO" sz="900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 txBox="1"/>
              <p:nvPr/>
            </p:nvSpPr>
            <p:spPr>
              <a:xfrm>
                <a:off x="548640" y="731520"/>
                <a:ext cx="8046720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ro-RO" b="1" noProof="0" dirty="0"/>
                  <a:t>Extragerea trăsăturilor, alinierea multimodală pe unitatea </a:t>
                </a:r>
                <a14:m>
                  <m:oMath xmlns:m="http://schemas.openxmlformats.org/officeDocument/2006/math">
                    <m:r>
                      <a:rPr lang="ro-RO" i="1" noProof="0">
                        <a:latin typeface="Cambria Math" panose="02040503050406030204" pitchFamily="18" charset="0"/>
                      </a:rPr>
                      <m:t>𝑈𝐴𝑇</m:t>
                    </m:r>
                    <m:r>
                      <a:rPr lang="ro-RO" noProof="0">
                        <a:latin typeface="Cambria Math" panose="02040503050406030204" pitchFamily="18" charset="0"/>
                      </a:rPr>
                      <m:t>×</m:t>
                    </m:r>
                    <m:r>
                      <a:rPr lang="ro-RO" i="1" noProof="0">
                        <a:latin typeface="Cambria Math" panose="02040503050406030204" pitchFamily="18" charset="0"/>
                      </a:rPr>
                      <m:t>𝑎𝑛</m:t>
                    </m:r>
                  </m:oMath>
                </a14:m>
                <a:r>
                  <a:rPr lang="ro-RO" b="1" noProof="0" dirty="0"/>
                  <a:t> și analiza baseline PCA</a:t>
                </a:r>
                <a:endParaRPr lang="ro-RO" sz="1800" noProof="0" dirty="0"/>
              </a:p>
            </p:txBody>
          </p:sp>
        </mc:Choice>
        <mc:Fallback xmlns="">
          <p:sp>
            <p:nvSpPr>
              <p:cNvPr id="3" name="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731520"/>
                <a:ext cx="8046720" cy="731520"/>
              </a:xfrm>
              <a:prstGeom prst="rect">
                <a:avLst/>
              </a:prstGeom>
              <a:blipFill>
                <a:blip r:embed="rId3"/>
                <a:stretch>
                  <a:fillRect l="-1742" b="-6667"/>
                </a:stretch>
              </a:blipFill>
              <a:ln/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548640" y="1645920"/>
            <a:ext cx="5120640" cy="228600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ro-RO" sz="12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o-RO" sz="850" noProof="0" dirty="0">
                <a:solidFill>
                  <a:srgbClr val="6B7684"/>
                </a:solidFill>
              </a:rPr>
              <a:t>Raport de acoperire: 99.97% (3.180 UAT-uri din 3.181 păstrate; 15.900 rânduri valide).</a:t>
            </a:r>
          </a:p>
          <a:p>
            <a:pPr marL="0" indent="0">
              <a:buNone/>
            </a:pPr>
            <a:r>
              <a:rPr lang="ro-RO" sz="850" noProof="0" dirty="0">
                <a:solidFill>
                  <a:srgbClr val="6B7684"/>
                </a:solidFill>
              </a:rPr>
              <a:t>Valori lipsă: 0% în GHSL; &lt; 0.05% în INS (rezolvate prin imputare liniară temporală).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943599" y="1645920"/>
            <a:ext cx="3148149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1B2A41"/>
                </a:solidFill>
              </a:rPr>
              <a:t>Cum se verifică</a:t>
            </a:r>
            <a:endParaRPr lang="ro-RO" sz="11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Repo / notebook: </a:t>
            </a:r>
            <a:r>
              <a:rPr lang="ro-RO" sz="1000" noProof="0" dirty="0">
                <a:solidFill>
                  <a:srgbClr val="6B7684"/>
                </a:solidFill>
                <a:hlinkClick r:id="rId4"/>
              </a:rPr>
              <a:t>https://github.com/IulianGabrielSora/MEDE_project</a:t>
            </a:r>
            <a:endParaRPr lang="ro-RO" sz="110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Surse: GHS-BUILT-LAUSTAT R2023A × INS Tempo (2000–2020)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Unitate × pas de timp: 15.900 observații × 6 variabile brute (3.180 UAT-uri × 5 epoci: 2000, 2005, 2010, 2015, 2020)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Split: Spațial (pe cele 8 Regiuni de Dezvoltare / 41 de județe) și Temporal (LOYO – 2020 lăsat ca test)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Seed-uri / rulări: 5 rulări (seed-urile 42, 123, 456, 789, 2024) pentru verificarea stabilității split-urilor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Baseline „o singură sursă”: PCA pe trăsături doar din satelit (GHSL)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ro-RO" sz="1000" noProof="0" dirty="0">
                <a:solidFill>
                  <a:srgbClr val="6B7684"/>
                </a:solidFill>
              </a:rPr>
              <a:t>Ce înseamnă rezultatul: Pipeline-ul garantează alinierea temporală și semantică fără pierderi de date (99.97% retenție), permițând extragerea trăsăturilor multivariate pentru baseline-ul PCA la CP2.</a:t>
            </a:r>
          </a:p>
          <a:p>
            <a:pPr marL="0" indent="0">
              <a:spcAft>
                <a:spcPts val="400"/>
              </a:spcAft>
              <a:buNone/>
            </a:pPr>
            <a:endParaRPr lang="ro-RO" sz="11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noProof="0" dirty="0">
                <a:solidFill>
                  <a:srgbClr val="6B7684"/>
                </a:solidFill>
              </a:rPr>
              <a:t>Slide 2 din 3 · O singură figură sau tabel, cu axe, unități și baseline-ul vizibil</a:t>
            </a:r>
            <a:endParaRPr lang="ro-RO" sz="900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D33DBA-C9C1-B328-4F54-7F12C95881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28103" y="1645919"/>
            <a:ext cx="3968043" cy="2285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kern="0" spc="200" noProof="0" dirty="0">
                <a:solidFill>
                  <a:srgbClr val="C8702A"/>
                </a:solidFill>
              </a:rPr>
              <a:t>BLOCAJE ȘI URMĂTOARELE DOUĂ SĂPTĂMÂNI</a:t>
            </a:r>
            <a:endParaRPr lang="ro-RO" sz="9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400" noProof="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Blocaje și următorii pași la CP3</a:t>
            </a:r>
            <a:endParaRPr lang="ro-RO" sz="24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1B2A41"/>
                </a:solidFill>
              </a:rPr>
              <a:t>Blocaje</a:t>
            </a:r>
            <a:endParaRPr lang="ro-RO" sz="1100" noProof="0" dirty="0"/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ro-RO" sz="1050" noProof="0" dirty="0">
                <a:solidFill>
                  <a:srgbClr val="6B7684"/>
                </a:solidFill>
              </a:rPr>
              <a:t>Rezolvat (CP2): Asimetria severă din distribuțiile trăsăturilor de intensitate/densitate (ex. </a:t>
            </a:r>
            <a:r>
              <a:rPr lang="ro-RO" sz="1050" i="1" noProof="0" dirty="0">
                <a:solidFill>
                  <a:srgbClr val="6B7684"/>
                </a:solidFill>
              </a:rPr>
              <a:t>BuiltUp_per_Capita </a:t>
            </a:r>
            <a:r>
              <a:rPr lang="ro-RO" sz="1050" noProof="0" dirty="0">
                <a:solidFill>
                  <a:srgbClr val="6B7684"/>
                </a:solidFill>
              </a:rPr>
              <a:t>în stațiuni mici sau comune metropolitane) a fost stabilizată prin transformarea logaritmică </a:t>
            </a:r>
            <a:r>
              <a:rPr lang="ro-RO" sz="1050" i="1" noProof="0" dirty="0">
                <a:solidFill>
                  <a:srgbClr val="6B7684"/>
                </a:solidFill>
              </a:rPr>
              <a:t>log⁡(1+𝑥)</a:t>
            </a:r>
            <a:r>
              <a:rPr lang="en-US" sz="1050" i="1" noProof="0" dirty="0">
                <a:solidFill>
                  <a:srgbClr val="6B7684"/>
                </a:solidFill>
              </a:rPr>
              <a:t> </a:t>
            </a:r>
            <a:r>
              <a:rPr lang="ro-RO" sz="1050" noProof="0" dirty="0">
                <a:solidFill>
                  <a:srgbClr val="6B7684"/>
                </a:solidFill>
              </a:rPr>
              <a:t>și scalarea cu </a:t>
            </a:r>
            <a:r>
              <a:rPr lang="ro-RO" sz="1050" i="1" noProof="0" dirty="0">
                <a:solidFill>
                  <a:srgbClr val="6B7684"/>
                </a:solidFill>
              </a:rPr>
              <a:t>StandardScaler</a:t>
            </a:r>
            <a:r>
              <a:rPr lang="ro-RO" sz="1050" noProof="0" dirty="0">
                <a:solidFill>
                  <a:srgbClr val="6B7684"/>
                </a:solidFill>
              </a:rPr>
              <a:t> aplicată strict în interiorul split-ului spațio-temporal. 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ro-RO" sz="1050" noProof="0" dirty="0">
                <a:solidFill>
                  <a:srgbClr val="6B7684"/>
                </a:solidFill>
              </a:rPr>
              <a:t>Risc pentru CP3: În etapa de clustering (grupare &amp; distanțe), punctele extrem anomale (outliers) pot distorsiona clusterele 𝑘-means sau spațiul distanțelor Mahalanobis. Se impune evaluarea comparativă a clusteringului pe spațiul complet (𝑑=8) vs. pe spațiul redus PCA (𝑘=2, 63.1%varianță).</a:t>
            </a:r>
          </a:p>
        </p:txBody>
      </p:sp>
      <p:sp>
        <p:nvSpPr>
          <p:cNvPr id="5" name="Shape 3"/>
          <p:cNvSpPr/>
          <p:nvPr/>
        </p:nvSpPr>
        <p:spPr>
          <a:xfrm>
            <a:off x="4663440" y="1632856"/>
            <a:ext cx="3931920" cy="2984864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691639"/>
            <a:ext cx="3566160" cy="292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ro-RO" sz="1100" b="1" noProof="0" dirty="0">
                <a:solidFill>
                  <a:srgbClr val="C8702A"/>
                </a:solidFill>
              </a:rPr>
              <a:t>Planul pe 2 săptămâni</a:t>
            </a:r>
            <a:endParaRPr lang="ro-RO" sz="110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C9D1DC"/>
                </a:solidFill>
              </a:rPr>
              <a:t>Săptămâna [</a:t>
            </a:r>
            <a:r>
              <a:rPr lang="en-US" sz="1050" noProof="0" dirty="0">
                <a:solidFill>
                  <a:srgbClr val="C9D1DC"/>
                </a:solidFill>
              </a:rPr>
              <a:t>7</a:t>
            </a:r>
            <a:r>
              <a:rPr lang="ro-RO" sz="1050" noProof="0" dirty="0">
                <a:solidFill>
                  <a:srgbClr val="C9D1DC"/>
                </a:solidFill>
              </a:rPr>
              <a:t>]: Definirea metricilor de distanță (Euclidiană pe spațiul PCA vs. Mahalanobis/Cosine pe spațiul trăsăturilor) și construcția matricei de distanțe inter-UAT.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C9D1DC"/>
                </a:solidFill>
              </a:rPr>
              <a:t>Săptămâna [</a:t>
            </a:r>
            <a:r>
              <a:rPr lang="en-US" sz="1050" noProof="0" dirty="0">
                <a:solidFill>
                  <a:srgbClr val="C9D1DC"/>
                </a:solidFill>
              </a:rPr>
              <a:t>8</a:t>
            </a:r>
            <a:r>
              <a:rPr lang="ro-RO" sz="1050" noProof="0" dirty="0">
                <a:solidFill>
                  <a:srgbClr val="C9D1DC"/>
                </a:solidFill>
              </a:rPr>
              <a:t>]: Aplicarea algoritmilor de clustering (k-Means, DBSCAN, Hierarchical Clustering) pentru identificarea celor 4–5 tipologii naționale de UAT-uri și detecția anomaliilor de dezvoltare</a:t>
            </a:r>
            <a:endParaRPr lang="en-US" sz="1050" noProof="0" dirty="0">
              <a:solidFill>
                <a:srgbClr val="C9D1DC"/>
              </a:solidFill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C9D1DC"/>
                </a:solidFill>
              </a:rPr>
              <a:t>La CP</a:t>
            </a:r>
            <a:r>
              <a:rPr lang="en-US" sz="1050" noProof="0" dirty="0">
                <a:solidFill>
                  <a:srgbClr val="C9D1DC"/>
                </a:solidFill>
              </a:rPr>
              <a:t>3</a:t>
            </a:r>
            <a:r>
              <a:rPr lang="ro-RO" sz="1050" noProof="0" dirty="0">
                <a:solidFill>
                  <a:srgbClr val="C9D1DC"/>
                </a:solidFill>
              </a:rPr>
              <a:t> arăt: Harta națională a clusterelor/anomaliilor + coeficientul Silhouette + matricea de distanțe pe split-ul stabilit.</a:t>
            </a:r>
            <a:endParaRPr lang="en-US" sz="1050" noProof="0" dirty="0">
              <a:solidFill>
                <a:srgbClr val="C9D1DC"/>
              </a:solidFill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C9D1DC"/>
                </a:solidFill>
              </a:rPr>
              <a:t>Comparația obligatorie pe care o pregătesc: tructura de clustere descoperită din Sursă unică (Satelit GHSL singur) vs. Fuziune multimodală (Satelit GHSL + Demografie/Locuințe INS).</a:t>
            </a:r>
            <a:endParaRPr lang="en-US" sz="1050" noProof="0" dirty="0">
              <a:solidFill>
                <a:srgbClr val="C9D1DC"/>
              </a:solidFill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ro-RO" sz="1050" noProof="0" dirty="0">
                <a:solidFill>
                  <a:srgbClr val="C9D1DC"/>
                </a:solidFill>
              </a:rPr>
              <a:t>Secțiunea de articol pe care o scriu: Methods: Distance Metrics, Clustering Methodology &amp; PCA Dimensionality Reduction (pentru articolul IEEE)</a:t>
            </a:r>
            <a:r>
              <a:rPr lang="en-US" sz="1050" noProof="0" dirty="0">
                <a:solidFill>
                  <a:srgbClr val="C9D1DC"/>
                </a:solidFill>
              </a:rPr>
              <a:t>.</a:t>
            </a:r>
            <a:endParaRPr lang="ro-RO" sz="1050" noProof="0" dirty="0">
              <a:solidFill>
                <a:srgbClr val="C9D1DC"/>
              </a:solidFill>
            </a:endParaRPr>
          </a:p>
          <a:p>
            <a:pPr marL="0" indent="0">
              <a:buNone/>
            </a:pPr>
            <a:endParaRPr lang="ro-RO" sz="11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900" noProof="0" dirty="0">
                <a:solidFill>
                  <a:srgbClr val="6B7684"/>
                </a:solidFill>
              </a:rPr>
              <a:t>Slide 3 din 3 · Întrebarea pentru profesor / grup, dacă există: Dacă în CP3 aplicăm clustering pe primele 2 componente PCA (care explică 63.1% din varianță) în loc de spațiul complet cu 8 dimensiuni, este mai de dorit reducerea zgomotului sau păstrarea varianței reziduale din componentele secundare PC3–PC4 (încă 25.6%)?</a:t>
            </a:r>
            <a:endParaRPr lang="ro-RO" sz="9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E GeoSense">
  <a:themeElements>
    <a:clrScheme name="MEDE GeoSense">
      <a:dk1>
        <a:srgbClr val="1B2A41"/>
      </a:dk1>
      <a:lt1>
        <a:srgbClr val="F4F0E8"/>
      </a:lt1>
      <a:dk2>
        <a:srgbClr val="4A5563"/>
      </a:dk2>
      <a:lt2>
        <a:srgbClr val="E9E3D6"/>
      </a:lt2>
      <a:accent1>
        <a:srgbClr val="C8702A"/>
      </a:accent1>
      <a:accent2>
        <a:srgbClr val="1B2A41"/>
      </a:accent2>
      <a:accent3>
        <a:srgbClr val="8A96A3"/>
      </a:accent3>
      <a:accent4>
        <a:srgbClr val="D9D2C3"/>
      </a:accent4>
      <a:accent5>
        <a:srgbClr val="F4F0E8"/>
      </a:accent5>
      <a:accent6>
        <a:srgbClr val="E9E3D6"/>
      </a:accent6>
      <a:hlink>
        <a:srgbClr val="C8702A"/>
      </a:hlink>
      <a:folHlink>
        <a:srgbClr val="8A96A3"/>
      </a:folHlink>
    </a:clrScheme>
    <a:fontScheme name="MEDE Geo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866</Words>
  <Application>Microsoft Office PowerPoint</Application>
  <PresentationFormat>On-screen Show (16:9)</PresentationFormat>
  <Paragraphs>44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Cambria</vt:lpstr>
      <vt:lpstr>Cambria Math</vt:lpstr>
      <vt:lpstr>MEDE GeoSense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MEDE — Șablon checkpoint</dc:title>
  <dc:subject>PptxGenJS Presentation</dc:subject>
  <dc:creator>GeoSense Lab, ETTI–UNSTPB</dc:creator>
  <cp:lastModifiedBy>Iulian-Gabriel Sora</cp:lastModifiedBy>
  <cp:revision>8</cp:revision>
  <dcterms:created xsi:type="dcterms:W3CDTF">2026-10-07T14:41:20Z</dcterms:created>
  <dcterms:modified xsi:type="dcterms:W3CDTF">2026-10-29T12:36:18Z</dcterms:modified>
</cp:coreProperties>
</file>